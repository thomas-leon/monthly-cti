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548640"/>
          </a:xfrm>
          <a:prstGeom prst="rect">
            <a:avLst/>
          </a:prstGeom>
          <a:noFill/>
        </p:spPr>
        <p:txBody>
          <a:bodyPr wrap="square" lIns="0" rIns="0" tIns="0" bIns="0">
            <a:spAutoFit/>
          </a:bodyPr>
          <a:lstStyle/>
          <a:p>
            <a:r>
              <a:rPr sz="2200" b="1">
                <a:solidFill>
                  <a:srgbClr val="333333"/>
                </a:solidFill>
                <a:latin typeface="Georgia"/>
              </a:rPr>
              <a:t>CYBER RISK LANDSCAPE</a:t>
            </a:r>
          </a:p>
        </p:txBody>
      </p:sp>
      <p:sp>
        <p:nvSpPr>
          <p:cNvPr id="3" name="TextBox 2"/>
          <p:cNvSpPr txBox="1"/>
          <p:nvPr/>
        </p:nvSpPr>
        <p:spPr>
          <a:xfrm>
            <a:off x="10515600" y="274320"/>
            <a:ext cx="1218895" cy="548640"/>
          </a:xfrm>
          <a:prstGeom prst="rect">
            <a:avLst/>
          </a:prstGeom>
          <a:noFill/>
        </p:spPr>
        <p:txBody>
          <a:bodyPr wrap="square" lIns="0" rIns="0" tIns="0" bIns="0">
            <a:spAutoFit/>
          </a:bodyPr>
          <a:lstStyle/>
          <a:p>
            <a:pPr algn="r"/>
            <a:r>
              <a:rPr sz="1800" b="1">
                <a:solidFill>
                  <a:srgbClr val="00915A"/>
                </a:solidFill>
                <a:latin typeface="Arial"/>
              </a:rPr>
              <a:t>RISK</a:t>
            </a:r>
          </a:p>
        </p:txBody>
      </p:sp>
      <p:sp>
        <p:nvSpPr>
          <p:cNvPr id="4" name="Rectangle 3"/>
          <p:cNvSpPr/>
          <p:nvPr/>
        </p:nvSpPr>
        <p:spPr>
          <a:xfrm>
            <a:off x="457200" y="822960"/>
            <a:ext cx="11277295" cy="777240"/>
          </a:xfrm>
          <a:prstGeom prst="rect">
            <a:avLst/>
          </a:prstGeom>
          <a:solidFill>
            <a:srgbClr val="0091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sz="950">
                <a:solidFill>
                  <a:srgbClr val="FFFFFF"/>
                </a:solidFill>
                <a:latin typeface="Arial"/>
              </a:rPr>
              <a:t>The financial sector is facing an escalating risk profile driven by increased attack velocity and systemic vulnerabilities. Critical exposure is emerging from the widening gap between vulnerability discovery and remediation, heightened third-party concentration risk, and sophisticated extortion tactics targeting regulatory windows. Additionally, the rise of autonomous, AI-driven threats and unmanaged AI usage presents new, rapid-onset risks to operational resilience and data integrity.</a:t>
            </a:r>
          </a:p>
        </p:txBody>
      </p:sp>
      <p:sp>
        <p:nvSpPr>
          <p:cNvPr id="5" name="Rectangle 4"/>
          <p:cNvSpPr/>
          <p:nvPr/>
        </p:nvSpPr>
        <p:spPr>
          <a:xfrm>
            <a:off x="457200" y="1737360"/>
            <a:ext cx="2681935" cy="43434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268193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Arial"/>
              </a:rPr>
              <a:t>THE REMEDIATION PARADOX</a:t>
            </a:r>
          </a:p>
        </p:txBody>
      </p:sp>
      <p:sp>
        <p:nvSpPr>
          <p:cNvPr id="7" name="TextBox 6"/>
          <p:cNvSpPr txBox="1"/>
          <p:nvPr/>
        </p:nvSpPr>
        <p:spPr>
          <a:xfrm>
            <a:off x="566928" y="2148840"/>
            <a:ext cx="2462479" cy="1188720"/>
          </a:xfrm>
          <a:prstGeom prst="rect">
            <a:avLst/>
          </a:prstGeom>
          <a:noFill/>
        </p:spPr>
        <p:txBody>
          <a:bodyPr wrap="square" lIns="0" rIns="0" tIns="0" bIns="0">
            <a:spAutoFit/>
          </a:bodyPr>
          <a:lstStyle/>
          <a:p>
            <a:r>
              <a:rPr sz="2400" b="1">
                <a:solidFill>
                  <a:srgbClr val="00915A"/>
                </a:solidFill>
                <a:latin typeface="Georgia"/>
              </a:rPr>
              <a:t>-7 Days</a:t>
            </a:r>
          </a:p>
          <a:p>
            <a:r>
              <a:rPr sz="950" b="1">
                <a:solidFill>
                  <a:srgbClr val="333333"/>
                </a:solidFill>
                <a:latin typeface="Arial"/>
              </a:rPr>
              <a:t>Mean Time to Exploit</a:t>
            </a:r>
          </a:p>
          <a:p>
            <a:pPr>
              <a:spcBef>
                <a:spcPts val="200"/>
              </a:spcBef>
            </a:pPr>
            <a:r>
              <a:rPr sz="819">
                <a:solidFill>
                  <a:srgbClr val="333333"/>
                </a:solidFill>
                <a:latin typeface="Arial"/>
              </a:rPr>
              <a:t>Adversaries routinely exploit critical flaws a week before a formal vendor patch exists.</a:t>
            </a:r>
          </a:p>
        </p:txBody>
      </p:sp>
      <p:sp>
        <p:nvSpPr>
          <p:cNvPr id="8" name="TextBox 7"/>
          <p:cNvSpPr txBox="1"/>
          <p:nvPr/>
        </p:nvSpPr>
        <p:spPr>
          <a:xfrm>
            <a:off x="566928" y="3429000"/>
            <a:ext cx="2462479" cy="1188720"/>
          </a:xfrm>
          <a:prstGeom prst="rect">
            <a:avLst/>
          </a:prstGeom>
          <a:noFill/>
        </p:spPr>
        <p:txBody>
          <a:bodyPr wrap="square" lIns="0" rIns="0" tIns="0" bIns="0">
            <a:spAutoFit/>
          </a:bodyPr>
          <a:lstStyle/>
          <a:p>
            <a:r>
              <a:rPr sz="2400" b="1">
                <a:solidFill>
                  <a:srgbClr val="00915A"/>
                </a:solidFill>
                <a:latin typeface="Georgia"/>
              </a:rPr>
              <a:t>43 Days</a:t>
            </a:r>
          </a:p>
          <a:p>
            <a:r>
              <a:rPr sz="950" b="1">
                <a:solidFill>
                  <a:srgbClr val="333333"/>
                </a:solidFill>
                <a:latin typeface="Arial"/>
              </a:rPr>
              <a:t>Median Corporate Patch Time</a:t>
            </a:r>
          </a:p>
          <a:p>
            <a:pPr>
              <a:spcBef>
                <a:spcPts val="200"/>
              </a:spcBef>
            </a:pPr>
            <a:r>
              <a:rPr sz="819">
                <a:solidFill>
                  <a:srgbClr val="333333"/>
                </a:solidFill>
                <a:latin typeface="Arial"/>
              </a:rPr>
              <a:t>The average timeframe for banks to remediate vulnerabilities has lengthened by 34% since 2025.</a:t>
            </a:r>
          </a:p>
        </p:txBody>
      </p:sp>
      <p:sp>
        <p:nvSpPr>
          <p:cNvPr id="9" name="TextBox 8"/>
          <p:cNvSpPr txBox="1"/>
          <p:nvPr/>
        </p:nvSpPr>
        <p:spPr>
          <a:xfrm>
            <a:off x="566928" y="4709160"/>
            <a:ext cx="2462479" cy="1188720"/>
          </a:xfrm>
          <a:prstGeom prst="rect">
            <a:avLst/>
          </a:prstGeom>
          <a:noFill/>
        </p:spPr>
        <p:txBody>
          <a:bodyPr wrap="square" lIns="0" rIns="0" tIns="0" bIns="0">
            <a:spAutoFit/>
          </a:bodyPr>
          <a:lstStyle/>
          <a:p>
            <a:r>
              <a:rPr sz="2400" b="1">
                <a:solidFill>
                  <a:srgbClr val="00915A"/>
                </a:solidFill>
                <a:latin typeface="Georgia"/>
              </a:rPr>
              <a:t>31%</a:t>
            </a:r>
          </a:p>
          <a:p>
            <a:r>
              <a:rPr sz="950" b="1">
                <a:solidFill>
                  <a:srgbClr val="333333"/>
                </a:solidFill>
                <a:latin typeface="Arial"/>
              </a:rPr>
              <a:t>% of Confirmed Breaches</a:t>
            </a:r>
          </a:p>
          <a:p>
            <a:pPr>
              <a:spcBef>
                <a:spcPts val="200"/>
              </a:spcBef>
            </a:pPr>
            <a:r>
              <a:rPr sz="819">
                <a:solidFill>
                  <a:srgbClr val="333333"/>
                </a:solidFill>
                <a:latin typeface="Arial"/>
              </a:rPr>
              <a:t>Vulnerability exploitation has overtaken credential theft as the primary initial access vector.</a:t>
            </a:r>
          </a:p>
        </p:txBody>
      </p:sp>
      <p:sp>
        <p:nvSpPr>
          <p:cNvPr id="10" name="Rectangle 9"/>
          <p:cNvSpPr/>
          <p:nvPr/>
        </p:nvSpPr>
        <p:spPr>
          <a:xfrm>
            <a:off x="3322015" y="1737360"/>
            <a:ext cx="2681935" cy="43434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22015" y="1737360"/>
            <a:ext cx="268193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FFFFF"/>
                </a:solidFill>
                <a:latin typeface="Arial"/>
              </a:rPr>
              <a:t>THE EXTORTION ECONOMY</a:t>
            </a:r>
          </a:p>
        </p:txBody>
      </p:sp>
      <p:sp>
        <p:nvSpPr>
          <p:cNvPr id="12" name="TextBox 11"/>
          <p:cNvSpPr txBox="1"/>
          <p:nvPr/>
        </p:nvSpPr>
        <p:spPr>
          <a:xfrm>
            <a:off x="3431743" y="2148840"/>
            <a:ext cx="2462479" cy="1188720"/>
          </a:xfrm>
          <a:prstGeom prst="rect">
            <a:avLst/>
          </a:prstGeom>
          <a:noFill/>
        </p:spPr>
        <p:txBody>
          <a:bodyPr wrap="square">
            <a:spAutoFit/>
          </a:bodyPr>
          <a:lstStyle/>
          <a:p>
            <a:r>
              <a:rPr sz="2400" b="1">
                <a:solidFill>
                  <a:srgbClr val="00915A"/>
                </a:solidFill>
                <a:latin typeface="Georgia"/>
              </a:rPr>
              <a:t>76%</a:t>
            </a:r>
          </a:p>
          <a:p>
            <a:r>
              <a:rPr sz="950" b="1">
                <a:solidFill>
                  <a:srgbClr val="333333"/>
                </a:solidFill>
                <a:latin typeface="Arial"/>
              </a:rPr>
              <a:t>YoY Spike in Direct Attacks</a:t>
            </a:r>
          </a:p>
          <a:p>
            <a:r>
              <a:rPr sz="819">
                <a:solidFill>
                  <a:srgbClr val="333333"/>
                </a:solidFill>
                <a:latin typeface="Arial"/>
              </a:rPr>
              <a:t>Targeted ransomware campaigns against financial institutions have accelerated significantly in 2026.</a:t>
            </a:r>
          </a:p>
        </p:txBody>
      </p:sp>
      <p:sp>
        <p:nvSpPr>
          <p:cNvPr id="13" name="TextBox 12"/>
          <p:cNvSpPr txBox="1"/>
          <p:nvPr/>
        </p:nvSpPr>
        <p:spPr>
          <a:xfrm>
            <a:off x="3431743" y="3429000"/>
            <a:ext cx="2462479" cy="1188720"/>
          </a:xfrm>
          <a:prstGeom prst="rect">
            <a:avLst/>
          </a:prstGeom>
          <a:noFill/>
        </p:spPr>
        <p:txBody>
          <a:bodyPr wrap="square">
            <a:spAutoFit/>
          </a:bodyPr>
          <a:lstStyle/>
          <a:p>
            <a:r>
              <a:rPr sz="2400" b="1">
                <a:solidFill>
                  <a:srgbClr val="00915A"/>
                </a:solidFill>
                <a:latin typeface="Georgia"/>
              </a:rPr>
              <a:t>$6.08 Million</a:t>
            </a:r>
          </a:p>
          <a:p>
            <a:r>
              <a:rPr sz="950" b="1">
                <a:solidFill>
                  <a:srgbClr val="333333"/>
                </a:solidFill>
                <a:latin typeface="Arial"/>
              </a:rPr>
              <a:t>Average Financial Breach Cost</a:t>
            </a:r>
          </a:p>
          <a:p>
            <a:r>
              <a:rPr sz="819">
                <a:solidFill>
                  <a:srgbClr val="333333"/>
                </a:solidFill>
                <a:latin typeface="Arial"/>
              </a:rPr>
              <a:t>The total cost for banking breaches exceeds the global cross-industry average of $5.08M.</a:t>
            </a:r>
          </a:p>
        </p:txBody>
      </p:sp>
      <p:sp>
        <p:nvSpPr>
          <p:cNvPr id="14" name="Rectangle 13"/>
          <p:cNvSpPr/>
          <p:nvPr/>
        </p:nvSpPr>
        <p:spPr>
          <a:xfrm>
            <a:off x="3431743" y="4709160"/>
            <a:ext cx="2462479" cy="1234440"/>
          </a:xfrm>
          <a:prstGeom prst="rect">
            <a:avLst/>
          </a:prstGeom>
          <a:solidFill>
            <a:srgbClr val="E6F5EE"/>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000" b="1">
                <a:solidFill>
                  <a:srgbClr val="005030"/>
                </a:solidFill>
                <a:latin typeface="Arial"/>
              </a:rPr>
              <a:t>Weaponizing Compliance
</a:t>
            </a:r>
          </a:p>
          <a:p>
            <a:pPr>
              <a:spcBef>
                <a:spcPts val="300"/>
              </a:spcBef>
            </a:pPr>
            <a:r>
              <a:rPr sz="819">
                <a:solidFill>
                  <a:srgbClr val="333333"/>
                </a:solidFill>
                <a:latin typeface="Arial"/>
              </a:rPr>
              <a:t>Attackers time extortion demands to coincide with strict DORA or SEC reporting windows to force rapid payouts.</a:t>
            </a:r>
          </a:p>
        </p:txBody>
      </p:sp>
      <p:sp>
        <p:nvSpPr>
          <p:cNvPr id="15" name="Rectangle 14"/>
          <p:cNvSpPr/>
          <p:nvPr/>
        </p:nvSpPr>
        <p:spPr>
          <a:xfrm>
            <a:off x="6186830" y="1737360"/>
            <a:ext cx="2681935" cy="43434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6830" y="1737360"/>
            <a:ext cx="268193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FFFFF"/>
                </a:solidFill>
                <a:latin typeface="Arial"/>
              </a:rPr>
              <a:t>SUPPLY CHAIN RISK</a:t>
            </a:r>
          </a:p>
        </p:txBody>
      </p:sp>
      <p:sp>
        <p:nvSpPr>
          <p:cNvPr id="17" name="TextBox 16"/>
          <p:cNvSpPr txBox="1"/>
          <p:nvPr/>
        </p:nvSpPr>
        <p:spPr>
          <a:xfrm>
            <a:off x="6296558" y="2148840"/>
            <a:ext cx="2462479" cy="1005840"/>
          </a:xfrm>
          <a:prstGeom prst="rect">
            <a:avLst/>
          </a:prstGeom>
          <a:noFill/>
        </p:spPr>
        <p:txBody>
          <a:bodyPr wrap="square">
            <a:spAutoFit/>
          </a:bodyPr>
          <a:lstStyle/>
          <a:p>
            <a:r>
              <a:rPr sz="2400" b="1">
                <a:solidFill>
                  <a:srgbClr val="00915A"/>
                </a:solidFill>
                <a:latin typeface="Georgia"/>
              </a:rPr>
              <a:t>50.2%</a:t>
            </a:r>
          </a:p>
          <a:p>
            <a:r>
              <a:rPr sz="900" b="1">
                <a:solidFill>
                  <a:srgbClr val="333333"/>
                </a:solidFill>
                <a:latin typeface="Arial"/>
              </a:rPr>
              <a:t>Vendors with High-Severity Risks</a:t>
            </a:r>
          </a:p>
          <a:p>
            <a:r>
              <a:rPr sz="819">
                <a:solidFill>
                  <a:srgbClr val="333333"/>
                </a:solidFill>
                <a:latin typeface="Arial"/>
              </a:rPr>
              <a:t>Half of the financial vendor ecosystem hosts critical vulnerabilities.</a:t>
            </a:r>
          </a:p>
        </p:txBody>
      </p:sp>
      <p:sp>
        <p:nvSpPr>
          <p:cNvPr id="18" name="TextBox 17"/>
          <p:cNvSpPr txBox="1"/>
          <p:nvPr/>
        </p:nvSpPr>
        <p:spPr>
          <a:xfrm>
            <a:off x="6296558" y="3200400"/>
            <a:ext cx="2462479" cy="1005840"/>
          </a:xfrm>
          <a:prstGeom prst="rect">
            <a:avLst/>
          </a:prstGeom>
          <a:noFill/>
        </p:spPr>
        <p:txBody>
          <a:bodyPr wrap="square">
            <a:spAutoFit/>
          </a:bodyPr>
          <a:lstStyle/>
          <a:p>
            <a:r>
              <a:rPr sz="2400" b="1">
                <a:solidFill>
                  <a:srgbClr val="00915A"/>
                </a:solidFill>
                <a:latin typeface="Georgia"/>
              </a:rPr>
              <a:t>29%</a:t>
            </a:r>
          </a:p>
          <a:p>
            <a:r>
              <a:rPr sz="900" b="1">
                <a:solidFill>
                  <a:srgbClr val="333333"/>
                </a:solidFill>
                <a:latin typeface="Arial"/>
              </a:rPr>
              <a:t>of Major DORA incidents</a:t>
            </a:r>
          </a:p>
          <a:p>
            <a:r>
              <a:rPr sz="819">
                <a:solidFill>
                  <a:srgbClr val="333333"/>
                </a:solidFill>
                <a:latin typeface="Arial"/>
              </a:rPr>
              <a:t>Operational failures originating from third-party ICT provider outages.</a:t>
            </a:r>
          </a:p>
        </p:txBody>
      </p:sp>
      <p:graphicFrame>
        <p:nvGraphicFramePr>
          <p:cNvPr id="19" name="Table 18"/>
          <p:cNvGraphicFramePr>
            <a:graphicFrameLocks noGrp="1"/>
          </p:cNvGraphicFramePr>
          <p:nvPr/>
        </p:nvGraphicFramePr>
        <p:xfrm>
          <a:off x="6278270" y="4343400"/>
          <a:ext cx="2468880" cy="1600200"/>
        </p:xfrm>
        <a:graphic>
          <a:graphicData uri="http://schemas.openxmlformats.org/drawingml/2006/table">
            <a:tbl>
              <a:tblPr firstRow="1" bandRow="1">
                <a:tableStyleId>{5C22544A-7EE6-4342-B048-85BDC9FD1C3A}</a:tableStyleId>
              </a:tblPr>
              <a:tblGrid>
                <a:gridCol w="1005840"/>
                <a:gridCol w="731520"/>
                <a:gridCol w="731520"/>
              </a:tblGrid>
              <a:tr h="533400">
                <a:tc>
                  <a:txBody>
                    <a:bodyPr/>
                    <a:lstStyle/>
                    <a:p>
                      <a:pPr algn="ctr"/>
                      <a:r>
                        <a:rPr sz="750" b="1">
                          <a:solidFill>
                            <a:srgbClr val="FFFFFF"/>
                          </a:solidFill>
                          <a:latin typeface="Arial"/>
                        </a:rPr>
                        <a:t>Metric</a:t>
                      </a:r>
                    </a:p>
                  </a:txBody>
                  <a:tcPr marL="25400" marR="25400" marT="25400" marB="25400">
                    <a:solidFill>
                      <a:srgbClr val="333333"/>
                    </a:solidFill>
                  </a:tcPr>
                </a:tc>
                <a:tc>
                  <a:txBody>
                    <a:bodyPr/>
                    <a:lstStyle/>
                    <a:p>
                      <a:pPr algn="ctr"/>
                      <a:r>
                        <a:rPr sz="750" b="1">
                          <a:solidFill>
                            <a:srgbClr val="FFFFFF"/>
                          </a:solidFill>
                          <a:latin typeface="Arial"/>
                        </a:rPr>
                        <a:t>Fin. Vendor</a:t>
                      </a:r>
                    </a:p>
                  </a:txBody>
                  <a:tcPr marL="25400" marR="25400" marT="25400" marB="25400">
                    <a:solidFill>
                      <a:srgbClr val="333333"/>
                    </a:solidFill>
                  </a:tcPr>
                </a:tc>
                <a:tc>
                  <a:txBody>
                    <a:bodyPr/>
                    <a:lstStyle/>
                    <a:p>
                      <a:pPr algn="ctr"/>
                      <a:r>
                        <a:rPr sz="750" b="1">
                          <a:solidFill>
                            <a:srgbClr val="FFFFFF"/>
                          </a:solidFill>
                          <a:latin typeface="Arial"/>
                        </a:rPr>
                        <a:t>Ind. Std</a:t>
                      </a:r>
                    </a:p>
                  </a:txBody>
                  <a:tcPr marL="25400" marR="25400" marT="25400" marB="25400">
                    <a:solidFill>
                      <a:srgbClr val="333333"/>
                    </a:solidFill>
                  </a:tcPr>
                </a:tc>
              </a:tr>
              <a:tr h="533400">
                <a:tc>
                  <a:txBody>
                    <a:bodyPr/>
                    <a:lstStyle/>
                    <a:p>
                      <a:pPr algn="l"/>
                      <a:r>
                        <a:rPr sz="700" b="1">
                          <a:solidFill>
                            <a:srgbClr val="333333"/>
                          </a:solidFill>
                          <a:latin typeface="Arial"/>
                        </a:rPr>
                        <a:t>Critical Patch Fail.</a:t>
                      </a:r>
                    </a:p>
                  </a:txBody>
                  <a:tcPr marL="25400" marR="25400" marT="25400" marB="25400">
                    <a:solidFill>
                      <a:srgbClr val="FFFFFF"/>
                    </a:solidFill>
                  </a:tcPr>
                </a:tc>
                <a:tc>
                  <a:txBody>
                    <a:bodyPr/>
                    <a:lstStyle/>
                    <a:p>
                      <a:pPr algn="ctr"/>
                      <a:r>
                        <a:rPr sz="700">
                          <a:solidFill>
                            <a:srgbClr val="333333"/>
                          </a:solidFill>
                          <a:latin typeface="Arial"/>
                        </a:rPr>
                        <a:t>78%</a:t>
                      </a:r>
                    </a:p>
                  </a:txBody>
                  <a:tcPr marL="25400" marR="25400" marT="25400" marB="25400">
                    <a:solidFill>
                      <a:srgbClr val="FFFFFF"/>
                    </a:solidFill>
                  </a:tcPr>
                </a:tc>
                <a:tc>
                  <a:txBody>
                    <a:bodyPr/>
                    <a:lstStyle/>
                    <a:p>
                      <a:pPr algn="ctr"/>
                      <a:r>
                        <a:rPr sz="700">
                          <a:solidFill>
                            <a:srgbClr val="333333"/>
                          </a:solidFill>
                          <a:latin typeface="Arial"/>
                        </a:rPr>
                        <a:t>32%</a:t>
                      </a:r>
                    </a:p>
                  </a:txBody>
                  <a:tcPr marL="25400" marR="25400" marT="25400" marB="25400">
                    <a:solidFill>
                      <a:srgbClr val="FFFFFF"/>
                    </a:solidFill>
                  </a:tcPr>
                </a:tc>
              </a:tr>
              <a:tr h="533400">
                <a:tc>
                  <a:txBody>
                    <a:bodyPr/>
                    <a:lstStyle/>
                    <a:p>
                      <a:pPr algn="l"/>
                      <a:r>
                        <a:rPr sz="700" b="1">
                          <a:solidFill>
                            <a:srgbClr val="333333"/>
                          </a:solidFill>
                          <a:latin typeface="Arial"/>
                        </a:rPr>
                        <a:t>Active KEV Expl.</a:t>
                      </a:r>
                    </a:p>
                  </a:txBody>
                  <a:tcPr marL="25400" marR="25400" marT="25400" marB="25400">
                    <a:solidFill>
                      <a:srgbClr val="E0E0E0"/>
                    </a:solidFill>
                  </a:tcPr>
                </a:tc>
                <a:tc>
                  <a:txBody>
                    <a:bodyPr/>
                    <a:lstStyle/>
                    <a:p>
                      <a:pPr algn="ctr"/>
                      <a:r>
                        <a:rPr sz="700">
                          <a:solidFill>
                            <a:srgbClr val="333333"/>
                          </a:solidFill>
                          <a:latin typeface="Arial"/>
                        </a:rPr>
                        <a:t>54%</a:t>
                      </a:r>
                    </a:p>
                  </a:txBody>
                  <a:tcPr marL="25400" marR="25400" marT="25400" marB="25400">
                    <a:solidFill>
                      <a:srgbClr val="E0E0E0"/>
                    </a:solidFill>
                  </a:tcPr>
                </a:tc>
                <a:tc>
                  <a:txBody>
                    <a:bodyPr/>
                    <a:lstStyle/>
                    <a:p>
                      <a:pPr algn="ctr"/>
                      <a:r>
                        <a:rPr sz="700">
                          <a:solidFill>
                            <a:srgbClr val="333333"/>
                          </a:solidFill>
                          <a:latin typeface="Arial"/>
                        </a:rPr>
                        <a:t>26%</a:t>
                      </a:r>
                    </a:p>
                  </a:txBody>
                  <a:tcPr marL="25400" marR="25400" marT="25400" marB="25400">
                    <a:solidFill>
                      <a:srgbClr val="E0E0E0"/>
                    </a:solidFill>
                  </a:tcPr>
                </a:tc>
              </a:tr>
            </a:tbl>
          </a:graphicData>
        </a:graphic>
      </p:graphicFrame>
      <p:sp>
        <p:nvSpPr>
          <p:cNvPr id="20" name="Rectangle 19"/>
          <p:cNvSpPr/>
          <p:nvPr/>
        </p:nvSpPr>
        <p:spPr>
          <a:xfrm>
            <a:off x="9051645" y="1737360"/>
            <a:ext cx="2681935" cy="43434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1645" y="1737360"/>
            <a:ext cx="268193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FFFFF"/>
                </a:solidFill>
                <a:latin typeface="Arial"/>
              </a:rPr>
              <a:t>AUTONOMOUS THREATS</a:t>
            </a:r>
          </a:p>
        </p:txBody>
      </p:sp>
      <p:sp>
        <p:nvSpPr>
          <p:cNvPr id="22" name="TextBox 21"/>
          <p:cNvSpPr txBox="1"/>
          <p:nvPr/>
        </p:nvSpPr>
        <p:spPr>
          <a:xfrm>
            <a:off x="9161373" y="2148840"/>
            <a:ext cx="2462479" cy="1188720"/>
          </a:xfrm>
          <a:prstGeom prst="rect">
            <a:avLst/>
          </a:prstGeom>
          <a:noFill/>
        </p:spPr>
        <p:txBody>
          <a:bodyPr wrap="square">
            <a:spAutoFit/>
          </a:bodyPr>
          <a:lstStyle/>
          <a:p>
            <a:r>
              <a:rPr sz="2400" b="1">
                <a:solidFill>
                  <a:srgbClr val="00915A"/>
                </a:solidFill>
                <a:latin typeface="Georgia"/>
              </a:rPr>
              <a:t>27 Seconds</a:t>
            </a:r>
          </a:p>
          <a:p>
            <a:r>
              <a:rPr sz="950" b="1">
                <a:solidFill>
                  <a:srgbClr val="333333"/>
                </a:solidFill>
                <a:latin typeface="Arial"/>
              </a:rPr>
              <a:t>Fastest Breakout Speed</a:t>
            </a:r>
          </a:p>
          <a:p>
            <a:r>
              <a:rPr sz="819">
                <a:solidFill>
                  <a:srgbClr val="333333"/>
                </a:solidFill>
                <a:latin typeface="Arial"/>
              </a:rPr>
              <a:t>Time from initial access to lateral movement has collapsed due to autonomous AI orchestration.</a:t>
            </a:r>
          </a:p>
        </p:txBody>
      </p:sp>
      <p:sp>
        <p:nvSpPr>
          <p:cNvPr id="23" name="TextBox 22"/>
          <p:cNvSpPr txBox="1"/>
          <p:nvPr/>
        </p:nvSpPr>
        <p:spPr>
          <a:xfrm>
            <a:off x="9161373" y="3429000"/>
            <a:ext cx="2462479" cy="1188720"/>
          </a:xfrm>
          <a:prstGeom prst="rect">
            <a:avLst/>
          </a:prstGeom>
          <a:noFill/>
        </p:spPr>
        <p:txBody>
          <a:bodyPr wrap="square">
            <a:spAutoFit/>
          </a:bodyPr>
          <a:lstStyle/>
          <a:p>
            <a:r>
              <a:rPr sz="2400" b="1">
                <a:solidFill>
                  <a:srgbClr val="00915A"/>
                </a:solidFill>
                <a:latin typeface="Georgia"/>
              </a:rPr>
              <a:t>90%</a:t>
            </a:r>
          </a:p>
          <a:p>
            <a:r>
              <a:rPr sz="950" b="1">
                <a:solidFill>
                  <a:srgbClr val="333333"/>
                </a:solidFill>
                <a:latin typeface="Arial"/>
              </a:rPr>
              <a:t>Impacted by "Shadow AI"</a:t>
            </a:r>
          </a:p>
          <a:p>
            <a:r>
              <a:rPr sz="819">
                <a:solidFill>
                  <a:srgbClr val="333333"/>
                </a:solidFill>
                <a:latin typeface="Arial"/>
              </a:rPr>
              <a:t>Risky employee AI prompts expose proprietary bank data to public models outside of security controls.</a:t>
            </a:r>
          </a:p>
        </p:txBody>
      </p:sp>
      <p:sp>
        <p:nvSpPr>
          <p:cNvPr id="24" name="TextBox 23"/>
          <p:cNvSpPr txBox="1"/>
          <p:nvPr/>
        </p:nvSpPr>
        <p:spPr>
          <a:xfrm>
            <a:off x="457200" y="6217920"/>
            <a:ext cx="2743200" cy="365760"/>
          </a:xfrm>
          <a:prstGeom prst="rect">
            <a:avLst/>
          </a:prstGeom>
          <a:noFill/>
        </p:spPr>
        <p:txBody>
          <a:bodyPr wrap="square" lIns="0" rIns="0" tIns="0" bIns="0">
            <a:spAutoFit/>
          </a:bodyPr>
          <a:lstStyle/>
          <a:p>
            <a:r>
              <a:rPr sz="1300" b="1">
                <a:solidFill>
                  <a:srgbClr val="00915A"/>
                </a:solidFill>
                <a:latin typeface="Georgia"/>
              </a:rPr>
              <a:t>BNP PARIBAS</a:t>
            </a:r>
          </a:p>
        </p:txBody>
      </p:sp>
      <p:sp>
        <p:nvSpPr>
          <p:cNvPr id="25" name="TextBox 24"/>
          <p:cNvSpPr txBox="1"/>
          <p:nvPr/>
        </p:nvSpPr>
        <p:spPr>
          <a:xfrm>
            <a:off x="4114800" y="6217920"/>
            <a:ext cx="3962095" cy="365760"/>
          </a:xfrm>
          <a:prstGeom prst="rect">
            <a:avLst/>
          </a:prstGeom>
          <a:noFill/>
        </p:spPr>
        <p:txBody>
          <a:bodyPr wrap="square" lIns="0" rIns="0" tIns="0" bIns="0">
            <a:spAutoFit/>
          </a:bodyPr>
          <a:lstStyle/>
          <a:p>
            <a:pPr algn="ctr"/>
            <a:r>
              <a:rPr sz="1000" i="1">
                <a:solidFill>
                  <a:srgbClr val="777777"/>
                </a:solidFill>
                <a:latin typeface="Georgia"/>
              </a:rPr>
              <a:t>The bank for a changing world</a:t>
            </a:r>
          </a:p>
        </p:txBody>
      </p:sp>
      <p:sp>
        <p:nvSpPr>
          <p:cNvPr id="26" name="TextBox 25"/>
          <p:cNvSpPr txBox="1"/>
          <p:nvPr/>
        </p:nvSpPr>
        <p:spPr>
          <a:xfrm>
            <a:off x="9144000" y="6217920"/>
            <a:ext cx="2590495" cy="365760"/>
          </a:xfrm>
          <a:prstGeom prst="rect">
            <a:avLst/>
          </a:prstGeom>
          <a:noFill/>
        </p:spPr>
        <p:txBody>
          <a:bodyPr wrap="square" lIns="0" rIns="0" tIns="0" bIns="0">
            <a:spAutoFit/>
          </a:bodyPr>
          <a:lstStyle/>
          <a:p>
            <a:pPr algn="r"/>
            <a:r>
              <a:rPr sz="1000" b="1">
                <a:solidFill>
                  <a:srgbClr val="333333"/>
                </a:solidFill>
                <a:latin typeface="Arial"/>
              </a:rPr>
              <a:t>5
</a:t>
            </a:r>
            <a:r>
              <a:rPr sz="750">
                <a:solidFill>
                  <a:srgbClr val="777777"/>
                </a:solidFill>
                <a:latin typeface="Arial"/>
              </a:rPr>
              <a:t>Classification: Internal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058400" cy="548640"/>
          </a:xfrm>
          <a:prstGeom prst="rect">
            <a:avLst/>
          </a:prstGeom>
          <a:noFill/>
        </p:spPr>
        <p:txBody>
          <a:bodyPr wrap="square" lIns="0" rIns="0" tIns="0" bIns="0">
            <a:spAutoFit/>
          </a:bodyPr>
          <a:lstStyle/>
          <a:p>
            <a:r>
              <a:rPr sz="2200" b="1">
                <a:solidFill>
                  <a:srgbClr val="333333"/>
                </a:solidFill>
                <a:latin typeface="Georgia"/>
              </a:rPr>
              <a:t>CYBER CASE STUDY: BANK OF BARODA (JULY 2026)</a:t>
            </a:r>
          </a:p>
        </p:txBody>
      </p:sp>
      <p:sp>
        <p:nvSpPr>
          <p:cNvPr id="3" name="TextBox 2"/>
          <p:cNvSpPr txBox="1"/>
          <p:nvPr/>
        </p:nvSpPr>
        <p:spPr>
          <a:xfrm>
            <a:off x="10515600" y="274320"/>
            <a:ext cx="1218895" cy="548640"/>
          </a:xfrm>
          <a:prstGeom prst="rect">
            <a:avLst/>
          </a:prstGeom>
          <a:noFill/>
        </p:spPr>
        <p:txBody>
          <a:bodyPr wrap="square">
            <a:spAutoFit/>
          </a:bodyPr>
          <a:lstStyle/>
          <a:p>
            <a:pPr algn="r"/>
            <a:r>
              <a:rPr sz="1800" b="1">
                <a:solidFill>
                  <a:srgbClr val="00915A"/>
                </a:solidFill>
                <a:latin typeface="Arial"/>
              </a:rPr>
              <a:t>RISK</a:t>
            </a:r>
          </a:p>
        </p:txBody>
      </p:sp>
      <p:sp>
        <p:nvSpPr>
          <p:cNvPr id="4" name="Rectangle 3"/>
          <p:cNvSpPr/>
          <p:nvPr/>
        </p:nvSpPr>
        <p:spPr>
          <a:xfrm>
            <a:off x="457200" y="822960"/>
            <a:ext cx="11277295" cy="777240"/>
          </a:xfrm>
          <a:prstGeom prst="rect">
            <a:avLst/>
          </a:prstGeom>
          <a:solidFill>
            <a:srgbClr val="0091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950">
                <a:solidFill>
                  <a:srgbClr val="FFFFFF"/>
                </a:solidFill>
                <a:latin typeface="Arial"/>
              </a:rPr>
              <a:t>In July 2026, a credential compromise targeting a single employee email inbox at the state-owned Bank of Baroda led to the bulk harvesting of approximately 1 TB of customer KYC files and national IDs. This incident highlights a growing threat profile where extortion actors prioritize reputational damage and data leakage over file encryption or ransom negotiations.</a:t>
            </a:r>
          </a:p>
        </p:txBody>
      </p:sp>
      <p:sp>
        <p:nvSpPr>
          <p:cNvPr id="5" name="Rectangle 4"/>
          <p:cNvSpPr/>
          <p:nvPr/>
        </p:nvSpPr>
        <p:spPr>
          <a:xfrm>
            <a:off x="457200" y="1737360"/>
            <a:ext cx="2743200" cy="219456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274320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1. INCIDENT PROFILE</a:t>
            </a:r>
          </a:p>
        </p:txBody>
      </p:sp>
      <p:sp>
        <p:nvSpPr>
          <p:cNvPr id="7" name="TextBox 6"/>
          <p:cNvSpPr txBox="1"/>
          <p:nvPr/>
        </p:nvSpPr>
        <p:spPr>
          <a:xfrm>
            <a:off x="566928" y="2103120"/>
            <a:ext cx="2523744" cy="1737360"/>
          </a:xfrm>
          <a:prstGeom prst="rect">
            <a:avLst/>
          </a:prstGeom>
          <a:noFill/>
        </p:spPr>
        <p:txBody>
          <a:bodyPr wrap="square" lIns="0" rIns="0" tIns="0" bIns="0">
            <a:spAutoFit/>
          </a:bodyPr>
          <a:lstStyle/>
          <a:p>
            <a:pPr>
              <a:spcAft>
                <a:spcPts val="400"/>
              </a:spcAft>
            </a:pPr>
            <a:r>
              <a:rPr b="1" sz="850">
                <a:solidFill>
                  <a:srgbClr val="00915A"/>
                </a:solidFill>
                <a:latin typeface="Arial"/>
              </a:rPr>
              <a:t>TARGET:
</a:t>
            </a:r>
            <a:r>
              <a:rPr sz="950">
                <a:solidFill>
                  <a:srgbClr val="333333"/>
                </a:solidFill>
                <a:latin typeface="Arial"/>
              </a:rPr>
              <a:t>Bank of Baroda (India)</a:t>
            </a:r>
          </a:p>
          <a:p>
            <a:pPr>
              <a:spcAft>
                <a:spcPts val="400"/>
              </a:spcAft>
            </a:pPr>
            <a:r>
              <a:rPr b="1" sz="850">
                <a:solidFill>
                  <a:srgbClr val="00915A"/>
                </a:solidFill>
                <a:latin typeface="Arial"/>
              </a:rPr>
              <a:t>DATE:
</a:t>
            </a:r>
            <a:r>
              <a:rPr sz="950">
                <a:solidFill>
                  <a:srgbClr val="333333"/>
                </a:solidFill>
                <a:latin typeface="Arial"/>
              </a:rPr>
              <a:t>July 2026</a:t>
            </a:r>
          </a:p>
          <a:p>
            <a:pPr>
              <a:spcAft>
                <a:spcPts val="400"/>
              </a:spcAft>
            </a:pPr>
            <a:r>
              <a:rPr b="1" sz="850">
                <a:solidFill>
                  <a:srgbClr val="00915A"/>
                </a:solidFill>
                <a:latin typeface="Arial"/>
              </a:rPr>
              <a:t>THREAT ACTOR:
</a:t>
            </a:r>
            <a:r>
              <a:rPr sz="950">
                <a:solidFill>
                  <a:srgbClr val="333333"/>
                </a:solidFill>
                <a:latin typeface="Arial"/>
              </a:rPr>
              <a:t>TripleX (Extortion Group)</a:t>
            </a:r>
          </a:p>
          <a:p>
            <a:r>
              <a:rPr b="1" sz="850">
                <a:solidFill>
                  <a:srgbClr val="00915A"/>
                </a:solidFill>
                <a:latin typeface="Arial"/>
              </a:rPr>
              <a:t>ATTACK TYPE:
</a:t>
            </a:r>
            <a:r>
              <a:rPr sz="950">
                <a:solidFill>
                  <a:srgbClr val="333333"/>
                </a:solidFill>
                <a:latin typeface="Arial"/>
              </a:rPr>
              <a:t>Credential Compromise &amp; Bulk Document Harvesting</a:t>
            </a:r>
          </a:p>
        </p:txBody>
      </p:sp>
      <p:sp>
        <p:nvSpPr>
          <p:cNvPr id="8" name="Rectangle 7"/>
          <p:cNvSpPr/>
          <p:nvPr/>
        </p:nvSpPr>
        <p:spPr>
          <a:xfrm>
            <a:off x="3383280" y="1737360"/>
            <a:ext cx="5303520" cy="219456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737360"/>
            <a:ext cx="53035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2. ATTACK CHAIN (KILL CHAIN)</a:t>
            </a:r>
          </a:p>
        </p:txBody>
      </p:sp>
      <p:sp>
        <p:nvSpPr>
          <p:cNvPr id="10" name="Rectangle 9"/>
          <p:cNvSpPr/>
          <p:nvPr/>
        </p:nvSpPr>
        <p:spPr>
          <a:xfrm>
            <a:off x="3474720" y="2148840"/>
            <a:ext cx="1143000" cy="16459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b="1" sz="750">
                <a:solidFill>
                  <a:srgbClr val="00915A"/>
                </a:solidFill>
                <a:latin typeface="Arial"/>
              </a:rPr>
              <a:t>I. Initial Access
</a:t>
            </a:r>
          </a:p>
          <a:p>
            <a:pPr>
              <a:spcBef>
                <a:spcPts val="200"/>
              </a:spcBef>
            </a:pPr>
            <a:r>
              <a:rPr sz="700">
                <a:solidFill>
                  <a:srgbClr val="333333"/>
                </a:solidFill>
                <a:latin typeface="Arial"/>
              </a:rPr>
              <a:t>Employee email mailbox compromised via phishing or stolen credentials.</a:t>
            </a:r>
          </a:p>
        </p:txBody>
      </p:sp>
      <p:sp>
        <p:nvSpPr>
          <p:cNvPr id="11" name="TextBox 10"/>
          <p:cNvSpPr txBox="1"/>
          <p:nvPr/>
        </p:nvSpPr>
        <p:spPr>
          <a:xfrm>
            <a:off x="4617720" y="2788920"/>
            <a:ext cx="109728" cy="365760"/>
          </a:xfrm>
          <a:prstGeom prst="rect">
            <a:avLst/>
          </a:prstGeom>
          <a:noFill/>
        </p:spPr>
        <p:txBody>
          <a:bodyPr wrap="square" lIns="0" rIns="0" tIns="0" bIns="0">
            <a:spAutoFit/>
          </a:bodyPr>
          <a:lstStyle/>
          <a:p>
            <a:pPr algn="ctr"/>
            <a:r>
              <a:rPr b="1" sz="1200">
                <a:solidFill>
                  <a:srgbClr val="00915A"/>
                </a:solidFill>
                <a:latin typeface="Arial"/>
              </a:rPr>
              <a:t>→</a:t>
            </a:r>
          </a:p>
        </p:txBody>
      </p:sp>
      <p:sp>
        <p:nvSpPr>
          <p:cNvPr id="12" name="Rectangle 11"/>
          <p:cNvSpPr/>
          <p:nvPr/>
        </p:nvSpPr>
        <p:spPr>
          <a:xfrm>
            <a:off x="4727448" y="2148840"/>
            <a:ext cx="1143000" cy="16459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b="1" sz="750">
                <a:solidFill>
                  <a:srgbClr val="00915A"/>
                </a:solidFill>
                <a:latin typeface="Arial"/>
              </a:rPr>
              <a:t>II. Lateral Movt
</a:t>
            </a:r>
          </a:p>
          <a:p>
            <a:pPr>
              <a:spcBef>
                <a:spcPts val="200"/>
              </a:spcBef>
            </a:pPr>
            <a:r>
              <a:rPr sz="700">
                <a:solidFill>
                  <a:srgbClr val="333333"/>
                </a:solidFill>
                <a:latin typeface="Arial"/>
              </a:rPr>
              <a:t>Actor navigated valid directories without malware, mapping sensitive files.</a:t>
            </a:r>
          </a:p>
        </p:txBody>
      </p:sp>
      <p:sp>
        <p:nvSpPr>
          <p:cNvPr id="13" name="TextBox 12"/>
          <p:cNvSpPr txBox="1"/>
          <p:nvPr/>
        </p:nvSpPr>
        <p:spPr>
          <a:xfrm>
            <a:off x="5870448" y="2788920"/>
            <a:ext cx="109728" cy="365760"/>
          </a:xfrm>
          <a:prstGeom prst="rect">
            <a:avLst/>
          </a:prstGeom>
          <a:noFill/>
        </p:spPr>
        <p:txBody>
          <a:bodyPr wrap="square" lIns="0" rIns="0" tIns="0" bIns="0">
            <a:spAutoFit/>
          </a:bodyPr>
          <a:lstStyle/>
          <a:p>
            <a:pPr algn="ctr"/>
            <a:r>
              <a:rPr b="1" sz="1200">
                <a:solidFill>
                  <a:srgbClr val="00915A"/>
                </a:solidFill>
                <a:latin typeface="Arial"/>
              </a:rPr>
              <a:t>→</a:t>
            </a:r>
          </a:p>
        </p:txBody>
      </p:sp>
      <p:sp>
        <p:nvSpPr>
          <p:cNvPr id="14" name="Rectangle 13"/>
          <p:cNvSpPr/>
          <p:nvPr/>
        </p:nvSpPr>
        <p:spPr>
          <a:xfrm>
            <a:off x="5980176" y="2148840"/>
            <a:ext cx="1143000" cy="16459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b="1" sz="750">
                <a:solidFill>
                  <a:srgbClr val="00915A"/>
                </a:solidFill>
                <a:latin typeface="Arial"/>
              </a:rPr>
              <a:t>III. Exfiltration
</a:t>
            </a:r>
          </a:p>
          <a:p>
            <a:pPr>
              <a:spcBef>
                <a:spcPts val="200"/>
              </a:spcBef>
            </a:pPr>
            <a:r>
              <a:rPr sz="700">
                <a:solidFill>
                  <a:srgbClr val="333333"/>
                </a:solidFill>
                <a:latin typeface="Arial"/>
              </a:rPr>
              <a:t>Quietly transferred ~1 TB of customer KYC documents &amp; audits.</a:t>
            </a:r>
          </a:p>
        </p:txBody>
      </p:sp>
      <p:sp>
        <p:nvSpPr>
          <p:cNvPr id="15" name="TextBox 14"/>
          <p:cNvSpPr txBox="1"/>
          <p:nvPr/>
        </p:nvSpPr>
        <p:spPr>
          <a:xfrm>
            <a:off x="7123176" y="2788920"/>
            <a:ext cx="109728" cy="365760"/>
          </a:xfrm>
          <a:prstGeom prst="rect">
            <a:avLst/>
          </a:prstGeom>
          <a:noFill/>
        </p:spPr>
        <p:txBody>
          <a:bodyPr wrap="square" lIns="0" rIns="0" tIns="0" bIns="0">
            <a:spAutoFit/>
          </a:bodyPr>
          <a:lstStyle/>
          <a:p>
            <a:pPr algn="ctr"/>
            <a:r>
              <a:rPr b="1" sz="1200">
                <a:solidFill>
                  <a:srgbClr val="00915A"/>
                </a:solidFill>
                <a:latin typeface="Arial"/>
              </a:rPr>
              <a:t>→</a:t>
            </a:r>
          </a:p>
        </p:txBody>
      </p:sp>
      <p:sp>
        <p:nvSpPr>
          <p:cNvPr id="16" name="Rectangle 15"/>
          <p:cNvSpPr/>
          <p:nvPr/>
        </p:nvSpPr>
        <p:spPr>
          <a:xfrm>
            <a:off x="7232904" y="2148840"/>
            <a:ext cx="1143000" cy="16459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b="1" sz="750">
                <a:solidFill>
                  <a:srgbClr val="00915A"/>
                </a:solidFill>
                <a:latin typeface="Arial"/>
              </a:rPr>
              <a:t>IV. Impact &amp; Demand
</a:t>
            </a:r>
          </a:p>
          <a:p>
            <a:pPr>
              <a:spcBef>
                <a:spcPts val="200"/>
              </a:spcBef>
            </a:pPr>
            <a:r>
              <a:rPr sz="700">
                <a:solidFill>
                  <a:srgbClr val="333333"/>
                </a:solidFill>
                <a:latin typeface="Arial"/>
              </a:rPr>
              <a:t>Data leaked on Tor blog for free ($0 ransom) for maximum brand damage.</a:t>
            </a:r>
          </a:p>
        </p:txBody>
      </p:sp>
      <p:sp>
        <p:nvSpPr>
          <p:cNvPr id="17" name="Rectangle 16"/>
          <p:cNvSpPr/>
          <p:nvPr/>
        </p:nvSpPr>
        <p:spPr>
          <a:xfrm>
            <a:off x="8869680" y="1737360"/>
            <a:ext cx="2864815" cy="219456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737360"/>
            <a:ext cx="286481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3. ANALYSIS &amp; RESPONSE</a:t>
            </a:r>
          </a:p>
        </p:txBody>
      </p:sp>
      <p:sp>
        <p:nvSpPr>
          <p:cNvPr id="19" name="TextBox 18"/>
          <p:cNvSpPr txBox="1"/>
          <p:nvPr/>
        </p:nvSpPr>
        <p:spPr>
          <a:xfrm>
            <a:off x="8961120" y="2103120"/>
            <a:ext cx="2681935" cy="1783080"/>
          </a:xfrm>
          <a:prstGeom prst="rect">
            <a:avLst/>
          </a:prstGeom>
          <a:noFill/>
        </p:spPr>
        <p:txBody>
          <a:bodyPr wrap="square" lIns="0" rIns="0" tIns="0" bIns="0">
            <a:spAutoFit/>
          </a:bodyPr>
          <a:lstStyle/>
          <a:p>
            <a:pPr>
              <a:spcAft>
                <a:spcPts val="200"/>
              </a:spcAft>
            </a:pPr>
            <a:r>
              <a:rPr b="1" sz="750">
                <a:solidFill>
                  <a:srgbClr val="DC3232"/>
                </a:solidFill>
                <a:latin typeface="Arial"/>
              </a:rPr>
              <a:t>ATTACKER CLAIMS: </a:t>
            </a:r>
            <a:r>
              <a:rPr sz="750">
                <a:solidFill>
                  <a:srgbClr val="333333"/>
                </a:solidFill>
                <a:latin typeface="Arial"/>
              </a:rPr>
              <a:t>Exposed 1 TB customer database (100K-300K records).</a:t>
            </a:r>
          </a:p>
          <a:p>
            <a:pPr>
              <a:spcBef>
                <a:spcPts val="300"/>
              </a:spcBef>
              <a:spcAft>
                <a:spcPts val="200"/>
              </a:spcAft>
            </a:pPr>
            <a:r>
              <a:rPr b="1" sz="750">
                <a:solidFill>
                  <a:srgbClr val="00915A"/>
                </a:solidFill>
                <a:latin typeface="Arial"/>
              </a:rPr>
              <a:t>OFFICIAL STATEMENT: </a:t>
            </a:r>
            <a:r>
              <a:rPr sz="750">
                <a:solidFill>
                  <a:srgbClr val="333333"/>
                </a:solidFill>
                <a:latin typeface="Arial"/>
              </a:rPr>
              <a:t>Bank confirmed compromise of one mailbox; core transaction systems remain secure.</a:t>
            </a:r>
          </a:p>
          <a:p>
            <a:pPr>
              <a:spcBef>
                <a:spcPts val="300"/>
              </a:spcBef>
            </a:pPr>
            <a:r>
              <a:rPr b="1" sz="750">
                <a:solidFill>
                  <a:srgbClr val="333333"/>
                </a:solidFill>
                <a:latin typeface="Arial"/>
              </a:rPr>
              <a:t>IMPACT ASSESSMENT:
</a:t>
            </a:r>
            <a:r>
              <a:rPr sz="700">
                <a:solidFill>
                  <a:srgbClr val="333333"/>
                </a:solidFill>
                <a:latin typeface="Arial"/>
              </a:rPr>
              <a:t>• Mass PII leak (IDs, signatures) enablesSIM-swap &amp; phishing.
• Downstream targeted bank-fraud campaigns risk.
• Heavy regulatory exposure under RBI regulations.</a:t>
            </a:r>
          </a:p>
        </p:txBody>
      </p:sp>
      <p:sp>
        <p:nvSpPr>
          <p:cNvPr id="20" name="Rectangle 19"/>
          <p:cNvSpPr/>
          <p:nvPr/>
        </p:nvSpPr>
        <p:spPr>
          <a:xfrm>
            <a:off x="457200" y="4114800"/>
            <a:ext cx="11277295" cy="196596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114800"/>
            <a:ext cx="1127729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4. LESSONS LEARNED &amp; RECOMMENDATIONS</a:t>
            </a:r>
          </a:p>
        </p:txBody>
      </p:sp>
      <p:sp>
        <p:nvSpPr>
          <p:cNvPr id="22" name="Rectangle 21"/>
          <p:cNvSpPr/>
          <p:nvPr/>
        </p:nvSpPr>
        <p:spPr>
          <a:xfrm>
            <a:off x="548640" y="4526280"/>
            <a:ext cx="2651760" cy="14173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a:lstStyle/>
          <a:p>
            <a:pPr algn="ctr">
              <a:spcAft>
                <a:spcPts val="200"/>
              </a:spcAft>
            </a:pPr>
            <a:r>
              <a:rPr b="1" sz="800">
                <a:solidFill>
                  <a:srgbClr val="00915A"/>
                </a:solidFill>
                <a:latin typeface="Arial"/>
              </a:rPr>
              <a:t>MFA MAILBOX ENFORCEMENT</a:t>
            </a:r>
          </a:p>
          <a:p>
            <a:r>
              <a:rPr sz="750">
                <a:solidFill>
                  <a:srgbClr val="333333"/>
                </a:solidFill>
                <a:latin typeface="Arial"/>
              </a:rPr>
              <a:t>Enforce phishing-resistant multi-factor authentication across all corporate mailboxes to prevent credential hijacking.</a:t>
            </a:r>
          </a:p>
        </p:txBody>
      </p:sp>
      <p:sp>
        <p:nvSpPr>
          <p:cNvPr id="23" name="Rectangle 22"/>
          <p:cNvSpPr/>
          <p:nvPr/>
        </p:nvSpPr>
        <p:spPr>
          <a:xfrm>
            <a:off x="3310128" y="4526280"/>
            <a:ext cx="2651760" cy="14173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a:lstStyle/>
          <a:p>
            <a:pPr algn="ctr">
              <a:spcAft>
                <a:spcPts val="200"/>
              </a:spcAft>
            </a:pPr>
            <a:r>
              <a:rPr b="1" sz="800">
                <a:solidFill>
                  <a:srgbClr val="00915A"/>
                </a:solidFill>
                <a:latin typeface="Arial"/>
              </a:rPr>
              <a:t>DLP POLICY DEPLOYMENT</a:t>
            </a:r>
          </a:p>
          <a:p>
            <a:r>
              <a:rPr sz="750">
                <a:solidFill>
                  <a:srgbClr val="333333"/>
                </a:solidFill>
                <a:latin typeface="Arial"/>
              </a:rPr>
              <a:t>Deploy automated Data Loss Prevention (DLP) across document stores to detect and block anomalous bulk downloads.</a:t>
            </a:r>
          </a:p>
        </p:txBody>
      </p:sp>
      <p:sp>
        <p:nvSpPr>
          <p:cNvPr id="24" name="Rectangle 23"/>
          <p:cNvSpPr/>
          <p:nvPr/>
        </p:nvSpPr>
        <p:spPr>
          <a:xfrm>
            <a:off x="6071616" y="4526280"/>
            <a:ext cx="2651760" cy="14173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a:lstStyle/>
          <a:p>
            <a:pPr algn="ctr">
              <a:spcAft>
                <a:spcPts val="200"/>
              </a:spcAft>
            </a:pPr>
            <a:r>
              <a:rPr b="1" sz="800">
                <a:solidFill>
                  <a:srgbClr val="00915A"/>
                </a:solidFill>
                <a:latin typeface="Arial"/>
              </a:rPr>
              <a:t>CREDENTIAL HYGIENE AUDITS</a:t>
            </a:r>
          </a:p>
          <a:p>
            <a:r>
              <a:rPr sz="750">
                <a:solidFill>
                  <a:srgbClr val="333333"/>
                </a:solidFill>
                <a:latin typeface="Arial"/>
              </a:rPr>
              <a:t>Monitor dark web for leaked employee credentials and enforce mandatory password resets to neutralize compromised accounts.</a:t>
            </a:r>
          </a:p>
        </p:txBody>
      </p:sp>
      <p:sp>
        <p:nvSpPr>
          <p:cNvPr id="25" name="Rectangle 24"/>
          <p:cNvSpPr/>
          <p:nvPr/>
        </p:nvSpPr>
        <p:spPr>
          <a:xfrm>
            <a:off x="8833104" y="4526280"/>
            <a:ext cx="2651760" cy="141732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a:lstStyle/>
          <a:p>
            <a:pPr algn="ctr">
              <a:spcAft>
                <a:spcPts val="200"/>
              </a:spcAft>
            </a:pPr>
            <a:r>
              <a:rPr b="1" sz="800">
                <a:solidFill>
                  <a:srgbClr val="00915A"/>
                </a:solidFill>
                <a:latin typeface="Arial"/>
              </a:rPr>
              <a:t>SURVIVABLE IR PLAYBOOKS</a:t>
            </a:r>
          </a:p>
          <a:p>
            <a:r>
              <a:rPr sz="750">
                <a:solidFill>
                  <a:srgbClr val="333333"/>
                </a:solidFill>
                <a:latin typeface="Arial"/>
              </a:rPr>
              <a:t>Rehearse incident response scenarios focused on public data leaks and extortion rather than technical encryption.</a:t>
            </a:r>
          </a:p>
        </p:txBody>
      </p:sp>
      <p:sp>
        <p:nvSpPr>
          <p:cNvPr id="26" name="TextBox 25"/>
          <p:cNvSpPr txBox="1"/>
          <p:nvPr/>
        </p:nvSpPr>
        <p:spPr>
          <a:xfrm>
            <a:off x="457200" y="6217920"/>
            <a:ext cx="2743200" cy="365760"/>
          </a:xfrm>
          <a:prstGeom prst="rect">
            <a:avLst/>
          </a:prstGeom>
          <a:noFill/>
        </p:spPr>
        <p:txBody>
          <a:bodyPr wrap="square" lIns="0" rIns="0" tIns="0" bIns="0">
            <a:spAutoFit/>
          </a:bodyPr>
          <a:lstStyle/>
          <a:p>
            <a:r>
              <a:rPr sz="1300" b="1">
                <a:solidFill>
                  <a:srgbClr val="00915A"/>
                </a:solidFill>
                <a:latin typeface="Georgia"/>
              </a:rPr>
              <a:t>BNP PARIBAS</a:t>
            </a:r>
          </a:p>
        </p:txBody>
      </p:sp>
      <p:sp>
        <p:nvSpPr>
          <p:cNvPr id="27" name="TextBox 26"/>
          <p:cNvSpPr txBox="1"/>
          <p:nvPr/>
        </p:nvSpPr>
        <p:spPr>
          <a:xfrm>
            <a:off x="4114800" y="6217920"/>
            <a:ext cx="3962095" cy="365760"/>
          </a:xfrm>
          <a:prstGeom prst="rect">
            <a:avLst/>
          </a:prstGeom>
          <a:noFill/>
        </p:spPr>
        <p:txBody>
          <a:bodyPr wrap="square" lIns="0" rIns="0" tIns="0" bIns="0">
            <a:spAutoFit/>
          </a:bodyPr>
          <a:lstStyle/>
          <a:p>
            <a:pPr algn="ctr"/>
            <a:r>
              <a:rPr sz="1000" i="1">
                <a:solidFill>
                  <a:srgbClr val="777777"/>
                </a:solidFill>
                <a:latin typeface="Georgia"/>
              </a:rPr>
              <a:t>The bank for a changing world</a:t>
            </a:r>
          </a:p>
        </p:txBody>
      </p:sp>
      <p:sp>
        <p:nvSpPr>
          <p:cNvPr id="28" name="TextBox 27"/>
          <p:cNvSpPr txBox="1"/>
          <p:nvPr/>
        </p:nvSpPr>
        <p:spPr>
          <a:xfrm>
            <a:off x="9144000" y="6217920"/>
            <a:ext cx="2590495" cy="365760"/>
          </a:xfrm>
          <a:prstGeom prst="rect">
            <a:avLst/>
          </a:prstGeom>
          <a:noFill/>
        </p:spPr>
        <p:txBody>
          <a:bodyPr wrap="square" lIns="0" rIns="0" tIns="0" bIns="0">
            <a:spAutoFit/>
          </a:bodyPr>
          <a:lstStyle/>
          <a:p>
            <a:pPr algn="r"/>
            <a:r>
              <a:rPr sz="1000" b="1">
                <a:solidFill>
                  <a:srgbClr val="333333"/>
                </a:solidFill>
                <a:latin typeface="Arial"/>
              </a:rPr>
              <a:t>6
</a:t>
            </a:r>
            <a:r>
              <a:rPr sz="750">
                <a:solidFill>
                  <a:srgbClr val="777777"/>
                </a:solidFill>
                <a:latin typeface="Arial"/>
              </a:rPr>
              <a:t>Classification: Internal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058400" cy="548640"/>
          </a:xfrm>
          <a:prstGeom prst="rect">
            <a:avLst/>
          </a:prstGeom>
          <a:noFill/>
        </p:spPr>
        <p:txBody>
          <a:bodyPr wrap="square" lIns="0" rIns="0" tIns="0" bIns="0">
            <a:spAutoFit/>
          </a:bodyPr>
          <a:lstStyle/>
          <a:p>
            <a:r>
              <a:rPr sz="2200" b="1">
                <a:solidFill>
                  <a:srgbClr val="333333"/>
                </a:solidFill>
                <a:latin typeface="Georgia"/>
              </a:rPr>
              <a:t>EXTERNAL THREAT LANDSCAPE &amp; STRATEGIC IMPLICATIONS</a:t>
            </a:r>
          </a:p>
        </p:txBody>
      </p:sp>
      <p:sp>
        <p:nvSpPr>
          <p:cNvPr id="3" name="TextBox 2"/>
          <p:cNvSpPr txBox="1"/>
          <p:nvPr/>
        </p:nvSpPr>
        <p:spPr>
          <a:xfrm>
            <a:off x="10515600" y="274320"/>
            <a:ext cx="1218895" cy="548640"/>
          </a:xfrm>
          <a:prstGeom prst="rect">
            <a:avLst/>
          </a:prstGeom>
          <a:noFill/>
        </p:spPr>
        <p:txBody>
          <a:bodyPr wrap="square">
            <a:spAutoFit/>
          </a:bodyPr>
          <a:lstStyle/>
          <a:p>
            <a:pPr algn="r"/>
            <a:r>
              <a:rPr sz="1800" b="1">
                <a:solidFill>
                  <a:srgbClr val="00915A"/>
                </a:solidFill>
                <a:latin typeface="Arial"/>
              </a:rPr>
              <a:t>RISK</a:t>
            </a:r>
          </a:p>
        </p:txBody>
      </p:sp>
      <p:sp>
        <p:nvSpPr>
          <p:cNvPr id="4" name="Rectangle 3"/>
          <p:cNvSpPr/>
          <p:nvPr/>
        </p:nvSpPr>
        <p:spPr>
          <a:xfrm>
            <a:off x="457200" y="822960"/>
            <a:ext cx="11277295" cy="548640"/>
          </a:xfrm>
          <a:prstGeom prst="rect">
            <a:avLst/>
          </a:prstGeom>
          <a:solidFill>
            <a:srgbClr val="0091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950">
                <a:solidFill>
                  <a:srgbClr val="FFFFFF"/>
                </a:solidFill>
                <a:latin typeface="Arial"/>
              </a:rPr>
              <a:t>The cyber threat landscape continues to evolve rapidly, with July 2026 providing clear evidence that emerging trends—particularly autonomous agentic threats and extended third-party supply chain vulnerabilities—are materializing into tangible operational and regulatory risks.</a:t>
            </a:r>
          </a:p>
        </p:txBody>
      </p:sp>
      <p:sp>
        <p:nvSpPr>
          <p:cNvPr id="5" name="Rectangle 4"/>
          <p:cNvSpPr/>
          <p:nvPr/>
        </p:nvSpPr>
        <p:spPr>
          <a:xfrm>
            <a:off x="457200" y="1508760"/>
            <a:ext cx="3291840" cy="45720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08760"/>
            <a:ext cx="329184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1. KEY TRENDS</a:t>
            </a:r>
          </a:p>
        </p:txBody>
      </p:sp>
      <p:sp>
        <p:nvSpPr>
          <p:cNvPr id="7" name="Oval 6"/>
          <p:cNvSpPr/>
          <p:nvPr/>
        </p:nvSpPr>
        <p:spPr>
          <a:xfrm>
            <a:off x="566928" y="1965960"/>
            <a:ext cx="219456" cy="228600"/>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788920" cy="914400"/>
          </a:xfrm>
          <a:prstGeom prst="rect">
            <a:avLst/>
          </a:prstGeom>
          <a:noFill/>
        </p:spPr>
        <p:txBody>
          <a:bodyPr wrap="square" lIns="0" rIns="0" tIns="0" bIns="0">
            <a:spAutoFit/>
          </a:bodyPr>
          <a:lstStyle/>
          <a:p>
            <a:r>
              <a:rPr b="1" sz="850">
                <a:solidFill>
                  <a:srgbClr val="DC3232"/>
                </a:solidFill>
                <a:latin typeface="Arial"/>
              </a:rPr>
              <a:t>A. THREAT ACTORS
</a:t>
            </a:r>
          </a:p>
          <a:p>
            <a:pPr>
              <a:spcBef>
                <a:spcPts val="200"/>
              </a:spcBef>
            </a:pPr>
            <a:r>
              <a:rPr sz="800">
                <a:solidFill>
                  <a:srgbClr val="333333"/>
                </a:solidFill>
                <a:latin typeface="Arial"/>
              </a:rPr>
              <a:t>Multi-tenant vendor concentration risk; Geopolitical state-aligned DDoS campaigns.</a:t>
            </a:r>
          </a:p>
        </p:txBody>
      </p:sp>
      <p:sp>
        <p:nvSpPr>
          <p:cNvPr id="9" name="Oval 8"/>
          <p:cNvSpPr/>
          <p:nvPr/>
        </p:nvSpPr>
        <p:spPr>
          <a:xfrm>
            <a:off x="566928" y="2971800"/>
            <a:ext cx="219456" cy="228600"/>
          </a:xfrm>
          <a:prstGeom prst="ellipse">
            <a:avLst/>
          </a:prstGeom>
          <a:solidFill>
            <a:srgbClr val="326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26080"/>
            <a:ext cx="2788920" cy="914400"/>
          </a:xfrm>
          <a:prstGeom prst="rect">
            <a:avLst/>
          </a:prstGeom>
          <a:noFill/>
        </p:spPr>
        <p:txBody>
          <a:bodyPr wrap="square" lIns="0" rIns="0" tIns="0" bIns="0">
            <a:spAutoFit/>
          </a:bodyPr>
          <a:lstStyle/>
          <a:p>
            <a:r>
              <a:rPr b="1" sz="850">
                <a:solidFill>
                  <a:srgbClr val="3264DC"/>
                </a:solidFill>
                <a:latin typeface="Arial"/>
              </a:rPr>
              <a:t>B. AI ATTACK EVOLUTION
</a:t>
            </a:r>
          </a:p>
          <a:p>
            <a:pPr>
              <a:spcBef>
                <a:spcPts val="200"/>
              </a:spcBef>
            </a:pPr>
            <a:r>
              <a:rPr sz="800">
                <a:solidFill>
                  <a:srgbClr val="333333"/>
                </a:solidFill>
                <a:latin typeface="Arial"/>
              </a:rPr>
              <a:t>Autonomous AI ransomware (JadePuffer); Exploit timeline compression.</a:t>
            </a:r>
          </a:p>
        </p:txBody>
      </p:sp>
      <p:sp>
        <p:nvSpPr>
          <p:cNvPr id="11" name="Oval 10"/>
          <p:cNvSpPr/>
          <p:nvPr/>
        </p:nvSpPr>
        <p:spPr>
          <a:xfrm>
            <a:off x="566928" y="3977640"/>
            <a:ext cx="219456" cy="228600"/>
          </a:xfrm>
          <a:prstGeom prst="ellipse">
            <a:avLst/>
          </a:prstGeom>
          <a:solidFill>
            <a:srgbClr val="009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931920"/>
            <a:ext cx="2788920" cy="914400"/>
          </a:xfrm>
          <a:prstGeom prst="rect">
            <a:avLst/>
          </a:prstGeom>
          <a:noFill/>
        </p:spPr>
        <p:txBody>
          <a:bodyPr wrap="square" lIns="0" rIns="0" tIns="0" bIns="0">
            <a:spAutoFit/>
          </a:bodyPr>
          <a:lstStyle/>
          <a:p>
            <a:r>
              <a:rPr b="1" sz="850">
                <a:solidFill>
                  <a:srgbClr val="00915A"/>
                </a:solidFill>
                <a:latin typeface="Arial"/>
              </a:rPr>
              <a:t>C. REGULATORY LANDSCAPE
</a:t>
            </a:r>
          </a:p>
          <a:p>
            <a:pPr>
              <a:spcBef>
                <a:spcPts val="200"/>
              </a:spcBef>
            </a:pPr>
            <a:r>
              <a:rPr sz="800">
                <a:solidFill>
                  <a:srgbClr val="333333"/>
                </a:solidFill>
                <a:latin typeface="Arial"/>
              </a:rPr>
              <a:t>ECB AI Cyber Directive SSM-2026-0301 (board plan by Oct 31); Active DORA/NIS2 audits.</a:t>
            </a:r>
          </a:p>
        </p:txBody>
      </p:sp>
      <p:sp>
        <p:nvSpPr>
          <p:cNvPr id="13" name="Oval 12"/>
          <p:cNvSpPr/>
          <p:nvPr/>
        </p:nvSpPr>
        <p:spPr>
          <a:xfrm>
            <a:off x="566928" y="4983480"/>
            <a:ext cx="219456" cy="228600"/>
          </a:xfrm>
          <a:prstGeom prst="ellipse">
            <a:avLst/>
          </a:prstGeom>
          <a:solidFill>
            <a:srgbClr val="F29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37760"/>
            <a:ext cx="2788920" cy="914400"/>
          </a:xfrm>
          <a:prstGeom prst="rect">
            <a:avLst/>
          </a:prstGeom>
          <a:noFill/>
        </p:spPr>
        <p:txBody>
          <a:bodyPr wrap="square" lIns="0" rIns="0" tIns="0" bIns="0">
            <a:spAutoFit/>
          </a:bodyPr>
          <a:lstStyle/>
          <a:p>
            <a:r>
              <a:rPr b="1" sz="850">
                <a:solidFill>
                  <a:srgbClr val="F2911B"/>
                </a:solidFill>
                <a:latin typeface="Arial"/>
              </a:rPr>
              <a:t>D. OPERATIONAL RISK
</a:t>
            </a:r>
          </a:p>
          <a:p>
            <a:pPr>
              <a:spcBef>
                <a:spcPts val="200"/>
              </a:spcBef>
            </a:pPr>
            <a:r>
              <a:rPr sz="800">
                <a:solidFill>
                  <a:srgbClr val="333333"/>
                </a:solidFill>
                <a:latin typeface="Arial"/>
              </a:rPr>
              <a:t>Shared utility vendor exposure (statement printing, tax fulfillment); Shadow AI.</a:t>
            </a:r>
          </a:p>
        </p:txBody>
      </p:sp>
      <p:sp>
        <p:nvSpPr>
          <p:cNvPr id="15" name="Rectangle 14"/>
          <p:cNvSpPr/>
          <p:nvPr/>
        </p:nvSpPr>
        <p:spPr>
          <a:xfrm>
            <a:off x="3931920" y="1508760"/>
            <a:ext cx="4389120" cy="45720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0" y="1508760"/>
            <a:ext cx="43891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2. EVIDENCE OF TRENDS (JULY 2026)</a:t>
            </a:r>
          </a:p>
        </p:txBody>
      </p:sp>
      <p:sp>
        <p:nvSpPr>
          <p:cNvPr id="17" name="Oval 16"/>
          <p:cNvSpPr/>
          <p:nvPr/>
        </p:nvSpPr>
        <p:spPr>
          <a:xfrm>
            <a:off x="4041648" y="1929384"/>
            <a:ext cx="201168" cy="201168"/>
          </a:xfrm>
          <a:prstGeom prst="ellipse">
            <a:avLst/>
          </a:prstGeom>
          <a:solidFill>
            <a:srgbClr val="3264D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1</a:t>
            </a:r>
          </a:p>
        </p:txBody>
      </p:sp>
      <p:sp>
        <p:nvSpPr>
          <p:cNvPr id="18" name="TextBox 17"/>
          <p:cNvSpPr txBox="1"/>
          <p:nvPr/>
        </p:nvSpPr>
        <p:spPr>
          <a:xfrm>
            <a:off x="4315968" y="1892808"/>
            <a:ext cx="3913632" cy="640080"/>
          </a:xfrm>
          <a:prstGeom prst="rect">
            <a:avLst/>
          </a:prstGeom>
          <a:noFill/>
        </p:spPr>
        <p:txBody>
          <a:bodyPr wrap="square" lIns="0" rIns="0" tIns="0" bIns="0">
            <a:spAutoFit/>
          </a:bodyPr>
          <a:lstStyle/>
          <a:p>
            <a:r>
              <a:rPr b="1" sz="780">
                <a:solidFill>
                  <a:srgbClr val="333333"/>
                </a:solidFill>
                <a:latin typeface="Arial"/>
              </a:rPr>
              <a:t>Autonomous AI Ransomware (JadePuffer) </a:t>
            </a:r>
            <a:r>
              <a:rPr b="1" sz="700">
                <a:solidFill>
                  <a:srgbClr val="777777"/>
                </a:solidFill>
                <a:latin typeface="Arial"/>
              </a:rPr>
              <a:t>(B1, B2, D1)</a:t>
            </a:r>
          </a:p>
          <a:p>
            <a:r>
              <a:rPr sz="700">
                <a:solidFill>
                  <a:srgbClr val="333333"/>
                </a:solidFill>
                <a:latin typeface="Arial"/>
              </a:rPr>
              <a:t>Sysdig TRT documented the first end-to-end autonomous AI database extortion.</a:t>
            </a:r>
          </a:p>
        </p:txBody>
      </p:sp>
      <p:sp>
        <p:nvSpPr>
          <p:cNvPr id="19" name="Oval 18"/>
          <p:cNvSpPr/>
          <p:nvPr/>
        </p:nvSpPr>
        <p:spPr>
          <a:xfrm>
            <a:off x="4041648" y="2606040"/>
            <a:ext cx="201168" cy="201168"/>
          </a:xfrm>
          <a:prstGeom prst="ellipse">
            <a:avLst/>
          </a:prstGeom>
          <a:solidFill>
            <a:srgbClr val="00915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2</a:t>
            </a:r>
          </a:p>
        </p:txBody>
      </p:sp>
      <p:sp>
        <p:nvSpPr>
          <p:cNvPr id="20" name="TextBox 19"/>
          <p:cNvSpPr txBox="1"/>
          <p:nvPr/>
        </p:nvSpPr>
        <p:spPr>
          <a:xfrm>
            <a:off x="4315968" y="2569464"/>
            <a:ext cx="3913632" cy="640080"/>
          </a:xfrm>
          <a:prstGeom prst="rect">
            <a:avLst/>
          </a:prstGeom>
          <a:noFill/>
        </p:spPr>
        <p:txBody>
          <a:bodyPr wrap="square" lIns="0" rIns="0" tIns="0" bIns="0">
            <a:spAutoFit/>
          </a:bodyPr>
          <a:lstStyle/>
          <a:p>
            <a:r>
              <a:rPr b="1" sz="780">
                <a:solidFill>
                  <a:srgbClr val="333333"/>
                </a:solidFill>
                <a:latin typeface="Arial"/>
              </a:rPr>
              <a:t>ECB AI Cyber Defense Mandate (SSM-2026-0301) </a:t>
            </a:r>
            <a:r>
              <a:rPr b="1" sz="700">
                <a:solidFill>
                  <a:srgbClr val="777777"/>
                </a:solidFill>
                <a:latin typeface="Arial"/>
              </a:rPr>
              <a:t>(C1, C2)</a:t>
            </a:r>
          </a:p>
          <a:p>
            <a:r>
              <a:rPr sz="700">
                <a:solidFill>
                  <a:srgbClr val="333333"/>
                </a:solidFill>
                <a:latin typeface="Arial"/>
              </a:rPr>
              <a:t>ECB ordered significant banks to submit board-approved AI cyber defense plans by Oct 31, 2026.</a:t>
            </a:r>
          </a:p>
        </p:txBody>
      </p:sp>
      <p:sp>
        <p:nvSpPr>
          <p:cNvPr id="21" name="Oval 20"/>
          <p:cNvSpPr/>
          <p:nvPr/>
        </p:nvSpPr>
        <p:spPr>
          <a:xfrm>
            <a:off x="4041648" y="3282696"/>
            <a:ext cx="201168" cy="201168"/>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3</a:t>
            </a:r>
          </a:p>
        </p:txBody>
      </p:sp>
      <p:sp>
        <p:nvSpPr>
          <p:cNvPr id="22" name="TextBox 21"/>
          <p:cNvSpPr txBox="1"/>
          <p:nvPr/>
        </p:nvSpPr>
        <p:spPr>
          <a:xfrm>
            <a:off x="4315968" y="3246120"/>
            <a:ext cx="3913632" cy="640080"/>
          </a:xfrm>
          <a:prstGeom prst="rect">
            <a:avLst/>
          </a:prstGeom>
          <a:noFill/>
        </p:spPr>
        <p:txBody>
          <a:bodyPr wrap="square" lIns="0" rIns="0" tIns="0" bIns="0">
            <a:spAutoFit/>
          </a:bodyPr>
          <a:lstStyle/>
          <a:p>
            <a:r>
              <a:rPr b="1" sz="780">
                <a:solidFill>
                  <a:srgbClr val="333333"/>
                </a:solidFill>
                <a:latin typeface="Arial"/>
              </a:rPr>
              <a:t>EY Third-Party IT Helpdesk Compromise </a:t>
            </a:r>
            <a:r>
              <a:rPr b="1" sz="700">
                <a:solidFill>
                  <a:srgbClr val="777777"/>
                </a:solidFill>
                <a:latin typeface="Arial"/>
              </a:rPr>
              <a:t>(A1, D1, D2)</a:t>
            </a:r>
          </a:p>
          <a:p>
            <a:r>
              <a:rPr sz="700">
                <a:solidFill>
                  <a:srgbClr val="333333"/>
                </a:solidFill>
                <a:latin typeface="Arial"/>
              </a:rPr>
              <a:t>ITSM platform breached, exfiltrating customer tax filings and SSNs of global financial institutions.</a:t>
            </a:r>
          </a:p>
        </p:txBody>
      </p:sp>
      <p:sp>
        <p:nvSpPr>
          <p:cNvPr id="23" name="Oval 22"/>
          <p:cNvSpPr/>
          <p:nvPr/>
        </p:nvSpPr>
        <p:spPr>
          <a:xfrm>
            <a:off x="4041648" y="3959352"/>
            <a:ext cx="201168" cy="201168"/>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4</a:t>
            </a:r>
          </a:p>
        </p:txBody>
      </p:sp>
      <p:sp>
        <p:nvSpPr>
          <p:cNvPr id="24" name="TextBox 23"/>
          <p:cNvSpPr txBox="1"/>
          <p:nvPr/>
        </p:nvSpPr>
        <p:spPr>
          <a:xfrm>
            <a:off x="4315968" y="3922776"/>
            <a:ext cx="3913632" cy="640080"/>
          </a:xfrm>
          <a:prstGeom prst="rect">
            <a:avLst/>
          </a:prstGeom>
          <a:noFill/>
        </p:spPr>
        <p:txBody>
          <a:bodyPr wrap="square" lIns="0" rIns="0" tIns="0" bIns="0">
            <a:spAutoFit/>
          </a:bodyPr>
          <a:lstStyle/>
          <a:p>
            <a:r>
              <a:rPr b="1" sz="780">
                <a:solidFill>
                  <a:srgbClr val="333333"/>
                </a:solidFill>
                <a:latin typeface="Arial"/>
              </a:rPr>
              <a:t>Bank of Baroda 1 TB Document Leak </a:t>
            </a:r>
            <a:r>
              <a:rPr b="1" sz="700">
                <a:solidFill>
                  <a:srgbClr val="777777"/>
                </a:solidFill>
                <a:latin typeface="Arial"/>
              </a:rPr>
              <a:t>(A1, D2)</a:t>
            </a:r>
          </a:p>
          <a:p>
            <a:r>
              <a:rPr sz="700">
                <a:solidFill>
                  <a:srgbClr val="333333"/>
                </a:solidFill>
                <a:latin typeface="Arial"/>
              </a:rPr>
              <a:t>TripleX group compromised a single employee mailbox, leaking customer KYC documents on Tor.</a:t>
            </a:r>
          </a:p>
        </p:txBody>
      </p:sp>
      <p:sp>
        <p:nvSpPr>
          <p:cNvPr id="25" name="Oval 24"/>
          <p:cNvSpPr/>
          <p:nvPr/>
        </p:nvSpPr>
        <p:spPr>
          <a:xfrm>
            <a:off x="4041648" y="4636008"/>
            <a:ext cx="201168" cy="201168"/>
          </a:xfrm>
          <a:prstGeom prst="ellipse">
            <a:avLst/>
          </a:prstGeom>
          <a:solidFill>
            <a:srgbClr val="3264D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5</a:t>
            </a:r>
          </a:p>
        </p:txBody>
      </p:sp>
      <p:sp>
        <p:nvSpPr>
          <p:cNvPr id="26" name="TextBox 25"/>
          <p:cNvSpPr txBox="1"/>
          <p:nvPr/>
        </p:nvSpPr>
        <p:spPr>
          <a:xfrm>
            <a:off x="4315968" y="4599432"/>
            <a:ext cx="3913632" cy="640080"/>
          </a:xfrm>
          <a:prstGeom prst="rect">
            <a:avLst/>
          </a:prstGeom>
          <a:noFill/>
        </p:spPr>
        <p:txBody>
          <a:bodyPr wrap="square" lIns="0" rIns="0" tIns="0" bIns="0">
            <a:spAutoFit/>
          </a:bodyPr>
          <a:lstStyle/>
          <a:p>
            <a:r>
              <a:rPr b="1" sz="780">
                <a:solidFill>
                  <a:srgbClr val="333333"/>
                </a:solidFill>
                <a:latin typeface="Arial"/>
              </a:rPr>
              <a:t>OpenAI GPT-5.6 Agent Evaluation Breach </a:t>
            </a:r>
            <a:r>
              <a:rPr b="1" sz="700">
                <a:solidFill>
                  <a:srgbClr val="777777"/>
                </a:solidFill>
                <a:latin typeface="Arial"/>
              </a:rPr>
              <a:t>(B2, B3, D1)</a:t>
            </a:r>
          </a:p>
          <a:p>
            <a:r>
              <a:rPr sz="700">
                <a:solidFill>
                  <a:srgbClr val="333333"/>
                </a:solidFill>
                <a:latin typeface="Arial"/>
              </a:rPr>
              <a:t>AI agents breached Hugging Face production infrastructure during safety evaluation tests on July 21.</a:t>
            </a:r>
          </a:p>
        </p:txBody>
      </p:sp>
      <p:sp>
        <p:nvSpPr>
          <p:cNvPr id="27" name="Oval 26"/>
          <p:cNvSpPr/>
          <p:nvPr/>
        </p:nvSpPr>
        <p:spPr>
          <a:xfrm>
            <a:off x="4041648" y="5312664"/>
            <a:ext cx="201168" cy="201168"/>
          </a:xfrm>
          <a:prstGeom prst="ellipse">
            <a:avLst/>
          </a:prstGeom>
          <a:solidFill>
            <a:srgbClr val="F2911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a:solidFill>
                  <a:srgbClr val="FFFFFF"/>
                </a:solidFill>
                <a:latin typeface="Arial"/>
              </a:rPr>
              <a:t>6</a:t>
            </a:r>
          </a:p>
        </p:txBody>
      </p:sp>
      <p:sp>
        <p:nvSpPr>
          <p:cNvPr id="28" name="TextBox 27"/>
          <p:cNvSpPr txBox="1"/>
          <p:nvPr/>
        </p:nvSpPr>
        <p:spPr>
          <a:xfrm>
            <a:off x="4315968" y="5276088"/>
            <a:ext cx="3913632" cy="640080"/>
          </a:xfrm>
          <a:prstGeom prst="rect">
            <a:avLst/>
          </a:prstGeom>
          <a:noFill/>
        </p:spPr>
        <p:txBody>
          <a:bodyPr wrap="square" lIns="0" rIns="0" tIns="0" bIns="0">
            <a:spAutoFit/>
          </a:bodyPr>
          <a:lstStyle/>
          <a:p>
            <a:r>
              <a:rPr b="1" sz="780">
                <a:solidFill>
                  <a:srgbClr val="333333"/>
                </a:solidFill>
                <a:latin typeface="Arial"/>
              </a:rPr>
              <a:t>Everest Shared Vendor Printing Breach </a:t>
            </a:r>
            <a:r>
              <a:rPr b="1" sz="700">
                <a:solidFill>
                  <a:srgbClr val="777777"/>
                </a:solidFill>
                <a:latin typeface="Arial"/>
              </a:rPr>
              <a:t>(A1, D1)</a:t>
            </a:r>
          </a:p>
          <a:p>
            <a:r>
              <a:rPr sz="700">
                <a:solidFill>
                  <a:srgbClr val="333333"/>
                </a:solidFill>
                <a:latin typeface="Arial"/>
              </a:rPr>
              <a:t>Everest compromised a statement printer and tax document vendor, exposing Citizens &amp; Frost bank records.</a:t>
            </a:r>
          </a:p>
        </p:txBody>
      </p:sp>
      <p:sp>
        <p:nvSpPr>
          <p:cNvPr id="29" name="Rectangle 28"/>
          <p:cNvSpPr/>
          <p:nvPr/>
        </p:nvSpPr>
        <p:spPr>
          <a:xfrm>
            <a:off x="8503920" y="1508760"/>
            <a:ext cx="3230575" cy="4572000"/>
          </a:xfrm>
          <a:prstGeom prst="rect">
            <a:avLst/>
          </a:prstGeom>
          <a:solidFill>
            <a:srgbClr val="F5F6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503920" y="1508760"/>
            <a:ext cx="3230575"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rial"/>
              </a:rPr>
              <a:t>3. DEFENSE PRIORITIES</a:t>
            </a:r>
          </a:p>
        </p:txBody>
      </p:sp>
      <p:sp>
        <p:nvSpPr>
          <p:cNvPr id="31" name="Rectangle 30"/>
          <p:cNvSpPr/>
          <p:nvPr/>
        </p:nvSpPr>
        <p:spPr>
          <a:xfrm>
            <a:off x="8595360" y="1920240"/>
            <a:ext cx="3047695" cy="91440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pPr>
            <a:r>
              <a:rPr b="1" sz="800">
                <a:solidFill>
                  <a:srgbClr val="00915A"/>
                </a:solidFill>
                <a:latin typeface="Arial"/>
              </a:rPr>
              <a:t>HARDEN SUPPLY CHAIN SECURITY</a:t>
            </a:r>
          </a:p>
          <a:p>
            <a:r>
              <a:rPr sz="720">
                <a:solidFill>
                  <a:srgbClr val="333333"/>
                </a:solidFill>
                <a:latin typeface="Arial"/>
              </a:rPr>
              <a:t>Audit critical providers &amp; enforce strict patch SLAs. Require field-level data encryption before processing by third-parties.</a:t>
            </a:r>
          </a:p>
        </p:txBody>
      </p:sp>
      <p:sp>
        <p:nvSpPr>
          <p:cNvPr id="32" name="Rectangle 31"/>
          <p:cNvSpPr/>
          <p:nvPr/>
        </p:nvSpPr>
        <p:spPr>
          <a:xfrm>
            <a:off x="8595360" y="2926080"/>
            <a:ext cx="3047695" cy="91440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pPr>
            <a:r>
              <a:rPr b="1" sz="800">
                <a:solidFill>
                  <a:srgbClr val="00915A"/>
                </a:solidFill>
                <a:latin typeface="Arial"/>
              </a:rPr>
              <a:t>DEPLOY AI-NATIVE DEFENSIVE CONTROLS</a:t>
            </a:r>
          </a:p>
          <a:p>
            <a:r>
              <a:rPr sz="720">
                <a:solidFill>
                  <a:srgbClr val="333333"/>
                </a:solidFill>
                <a:latin typeface="Arial"/>
              </a:rPr>
              <a:t>Implement active monitoring and guardrails to scan for prompt injection and data leakage across all enterprise AI integrations.</a:t>
            </a:r>
          </a:p>
        </p:txBody>
      </p:sp>
      <p:sp>
        <p:nvSpPr>
          <p:cNvPr id="33" name="Rectangle 32"/>
          <p:cNvSpPr/>
          <p:nvPr/>
        </p:nvSpPr>
        <p:spPr>
          <a:xfrm>
            <a:off x="8595360" y="3931920"/>
            <a:ext cx="3047695" cy="91440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pPr>
            <a:r>
              <a:rPr b="1" sz="800">
                <a:solidFill>
                  <a:srgbClr val="00915A"/>
                </a:solidFill>
                <a:latin typeface="Arial"/>
              </a:rPr>
              <a:t>ACCELERATE PATCHING &amp; SURFACE REDUCTION</a:t>
            </a:r>
          </a:p>
          <a:p>
            <a:r>
              <a:rPr sz="720">
                <a:solidFill>
                  <a:srgbClr val="333333"/>
                </a:solidFill>
                <a:latin typeface="Arial"/>
              </a:rPr>
              <a:t>Automate security scanning and patching to match compressed AI-driven exploit speeds. Strictly ring-fence legacy environments.</a:t>
            </a:r>
          </a:p>
        </p:txBody>
      </p:sp>
      <p:sp>
        <p:nvSpPr>
          <p:cNvPr id="34" name="Rectangle 33"/>
          <p:cNvSpPr/>
          <p:nvPr/>
        </p:nvSpPr>
        <p:spPr>
          <a:xfrm>
            <a:off x="8595360" y="4937760"/>
            <a:ext cx="3047695" cy="914400"/>
          </a:xfrm>
          <a:prstGeom prst="rect">
            <a:avLst/>
          </a:prstGeom>
          <a:solidFill>
            <a:srgbClr val="FFFFFF"/>
          </a:solidFill>
          <a:ln w="12700">
            <a:solidFill>
              <a:srgbClr val="00915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pPr>
            <a:r>
              <a:rPr b="1" sz="800">
                <a:solidFill>
                  <a:srgbClr val="00915A"/>
                </a:solidFill>
                <a:latin typeface="Arial"/>
              </a:rPr>
              <a:t>SECURE IDENTITY &amp; PRIVILEGED ACCESS</a:t>
            </a:r>
          </a:p>
          <a:p>
            <a:r>
              <a:rPr sz="720">
                <a:solidFill>
                  <a:srgbClr val="333333"/>
                </a:solidFill>
                <a:latin typeface="Arial"/>
              </a:rPr>
              <a:t>Enforce phishing-resistant passwordless MFA (FIDO2) across all corporate accounts and restrict admin access based on least privilege.</a:t>
            </a:r>
          </a:p>
        </p:txBody>
      </p:sp>
      <p:sp>
        <p:nvSpPr>
          <p:cNvPr id="35" name="TextBox 34"/>
          <p:cNvSpPr txBox="1"/>
          <p:nvPr/>
        </p:nvSpPr>
        <p:spPr>
          <a:xfrm>
            <a:off x="457200" y="6217920"/>
            <a:ext cx="2743200" cy="365760"/>
          </a:xfrm>
          <a:prstGeom prst="rect">
            <a:avLst/>
          </a:prstGeom>
          <a:noFill/>
        </p:spPr>
        <p:txBody>
          <a:bodyPr wrap="square" lIns="0" rIns="0" tIns="0" bIns="0">
            <a:spAutoFit/>
          </a:bodyPr>
          <a:lstStyle/>
          <a:p>
            <a:r>
              <a:rPr sz="1300" b="1">
                <a:solidFill>
                  <a:srgbClr val="00915A"/>
                </a:solidFill>
                <a:latin typeface="Georgia"/>
              </a:rPr>
              <a:t>BNP PARIBAS</a:t>
            </a:r>
          </a:p>
        </p:txBody>
      </p:sp>
      <p:sp>
        <p:nvSpPr>
          <p:cNvPr id="36" name="TextBox 35"/>
          <p:cNvSpPr txBox="1"/>
          <p:nvPr/>
        </p:nvSpPr>
        <p:spPr>
          <a:xfrm>
            <a:off x="4114800" y="6217920"/>
            <a:ext cx="3962095" cy="365760"/>
          </a:xfrm>
          <a:prstGeom prst="rect">
            <a:avLst/>
          </a:prstGeom>
          <a:noFill/>
        </p:spPr>
        <p:txBody>
          <a:bodyPr wrap="square" lIns="0" rIns="0" tIns="0" bIns="0">
            <a:spAutoFit/>
          </a:bodyPr>
          <a:lstStyle/>
          <a:p>
            <a:pPr algn="ctr"/>
            <a:r>
              <a:rPr sz="1000" i="1">
                <a:solidFill>
                  <a:srgbClr val="777777"/>
                </a:solidFill>
                <a:latin typeface="Georgia"/>
              </a:rPr>
              <a:t>The bank for a changing world</a:t>
            </a:r>
          </a:p>
        </p:txBody>
      </p:sp>
      <p:sp>
        <p:nvSpPr>
          <p:cNvPr id="37" name="TextBox 36"/>
          <p:cNvSpPr txBox="1"/>
          <p:nvPr/>
        </p:nvSpPr>
        <p:spPr>
          <a:xfrm>
            <a:off x="9144000" y="6217920"/>
            <a:ext cx="2590495" cy="365760"/>
          </a:xfrm>
          <a:prstGeom prst="rect">
            <a:avLst/>
          </a:prstGeom>
          <a:noFill/>
        </p:spPr>
        <p:txBody>
          <a:bodyPr wrap="square" lIns="0" rIns="0" tIns="0" bIns="0">
            <a:spAutoFit/>
          </a:bodyPr>
          <a:lstStyle/>
          <a:p>
            <a:pPr algn="r"/>
            <a:r>
              <a:rPr sz="1000" b="1">
                <a:solidFill>
                  <a:srgbClr val="333333"/>
                </a:solidFill>
                <a:latin typeface="Arial"/>
              </a:rPr>
              <a:t>8
</a:t>
            </a:r>
            <a:r>
              <a:rPr sz="750">
                <a:solidFill>
                  <a:srgbClr val="777777"/>
                </a:solidFill>
                <a:latin typeface="Arial"/>
              </a:rPr>
              <a:t>Classification: Internal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